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38725" y="875506"/>
            <a:ext cx="7410549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B8B8B"/>
                </a:solidFill>
                <a:latin typeface="Times New Roman"/>
                <a:cs typeface="Times New Roman"/>
              </a:defRPr>
            </a:lvl1pPr>
          </a:lstStyle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B8B8B"/>
                </a:solidFill>
                <a:latin typeface="Times New Roman"/>
                <a:cs typeface="Times New Roman"/>
              </a:defRPr>
            </a:lvl1pPr>
          </a:lstStyle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B8B8B"/>
                </a:solidFill>
                <a:latin typeface="Times New Roman"/>
                <a:cs typeface="Times New Roman"/>
              </a:defRPr>
            </a:lvl1pPr>
          </a:lstStyle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B8B8B"/>
                </a:solidFill>
                <a:latin typeface="Times New Roman"/>
                <a:cs typeface="Times New Roman"/>
              </a:defRPr>
            </a:lvl1pPr>
          </a:lstStyle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B8B8B"/>
                </a:solidFill>
                <a:latin typeface="Times New Roman"/>
                <a:cs typeface="Times New Roman"/>
              </a:defRPr>
            </a:lvl1pPr>
          </a:lstStyle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2990" y="532606"/>
            <a:ext cx="10602019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03734" y="3955793"/>
            <a:ext cx="15723235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98957" y="9533200"/>
            <a:ext cx="1141577" cy="4065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B8B8B"/>
                </a:solidFill>
                <a:latin typeface="Times New Roman"/>
                <a:cs typeface="Times New Roman"/>
              </a:defRPr>
            </a:lvl1pPr>
          </a:lstStyle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5.jp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6.jp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7.jp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8.jp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.png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www.mongodb.com/docs" TargetMode="External" /><Relationship Id="rId4" Type="http://schemas.openxmlformats.org/officeDocument/2006/relationships/hyperlink" Target="https://webrtc.org/" TargetMode="Externa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450056"/>
            <a:ext cx="1598302" cy="158591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75036" y="96590"/>
            <a:ext cx="9202420" cy="345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5459" marR="5080" indent="-493395">
              <a:lnSpc>
                <a:spcPct val="150000"/>
              </a:lnSpc>
              <a:spcBef>
                <a:spcPts val="100"/>
              </a:spcBef>
            </a:pPr>
            <a:r>
              <a:rPr sz="3000" b="1" dirty="0">
                <a:solidFill>
                  <a:srgbClr val="FF0066"/>
                </a:solidFill>
                <a:latin typeface="Times New Roman"/>
                <a:cs typeface="Times New Roman"/>
              </a:rPr>
              <a:t>K.</a:t>
            </a:r>
            <a:r>
              <a:rPr sz="3000" b="1" spc="-20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66"/>
                </a:solidFill>
                <a:latin typeface="Times New Roman"/>
                <a:cs typeface="Times New Roman"/>
              </a:rPr>
              <a:t>RAMAKRISHNAN</a:t>
            </a:r>
            <a:r>
              <a:rPr sz="3000" b="1" spc="-20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66"/>
                </a:solidFill>
                <a:latin typeface="Times New Roman"/>
                <a:cs typeface="Times New Roman"/>
              </a:rPr>
              <a:t>COLLEGE</a:t>
            </a:r>
            <a:r>
              <a:rPr sz="3000" b="1" spc="-15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66"/>
                </a:solidFill>
                <a:latin typeface="Times New Roman"/>
                <a:cs typeface="Times New Roman"/>
              </a:rPr>
              <a:t>OF</a:t>
            </a:r>
            <a:r>
              <a:rPr sz="3000" b="1" spc="-20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66"/>
                </a:solidFill>
                <a:latin typeface="Times New Roman"/>
                <a:cs typeface="Times New Roman"/>
              </a:rPr>
              <a:t>ENGINEERING </a:t>
            </a:r>
            <a:r>
              <a:rPr sz="3000" b="1" dirty="0">
                <a:solidFill>
                  <a:srgbClr val="FF0066"/>
                </a:solidFill>
                <a:latin typeface="Times New Roman"/>
                <a:cs typeface="Times New Roman"/>
              </a:rPr>
              <a:t>(AUTONOMOUS),</a:t>
            </a:r>
            <a:r>
              <a:rPr sz="3000" b="1" spc="-5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66"/>
                </a:solidFill>
                <a:latin typeface="Times New Roman"/>
                <a:cs typeface="Times New Roman"/>
              </a:rPr>
              <a:t>SAMAYAPURAM</a:t>
            </a:r>
            <a:r>
              <a:rPr sz="3000" b="1" spc="-5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66"/>
                </a:solidFill>
                <a:latin typeface="Times New Roman"/>
                <a:cs typeface="Times New Roman"/>
              </a:rPr>
              <a:t>- </a:t>
            </a:r>
            <a:r>
              <a:rPr sz="3000" b="1" spc="-10" dirty="0">
                <a:solidFill>
                  <a:srgbClr val="FF0066"/>
                </a:solidFill>
                <a:latin typeface="Times New Roman"/>
                <a:cs typeface="Times New Roman"/>
              </a:rPr>
              <a:t>TRICHY</a:t>
            </a:r>
            <a:endParaRPr sz="3000">
              <a:latin typeface="Times New Roman"/>
              <a:cs typeface="Times New Roman"/>
            </a:endParaRPr>
          </a:p>
          <a:p>
            <a:pPr marL="176530" marR="264160" algn="ctr">
              <a:lnSpc>
                <a:spcPct val="150000"/>
              </a:lnSpc>
            </a:pPr>
            <a:r>
              <a:rPr sz="3000" b="1" dirty="0">
                <a:solidFill>
                  <a:srgbClr val="FF0066"/>
                </a:solidFill>
                <a:latin typeface="Times New Roman"/>
                <a:cs typeface="Times New Roman"/>
              </a:rPr>
              <a:t>DEPARTMENT</a:t>
            </a:r>
            <a:r>
              <a:rPr sz="3000" b="1" spc="-15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66"/>
                </a:solidFill>
                <a:latin typeface="Times New Roman"/>
                <a:cs typeface="Times New Roman"/>
              </a:rPr>
              <a:t>OF</a:t>
            </a:r>
            <a:r>
              <a:rPr sz="3000" b="1" spc="-15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66"/>
                </a:solidFill>
                <a:latin typeface="Times New Roman"/>
                <a:cs typeface="Times New Roman"/>
              </a:rPr>
              <a:t>ARTIFICIAL</a:t>
            </a:r>
            <a:r>
              <a:rPr sz="3000" b="1" spc="-15" dirty="0">
                <a:solidFill>
                  <a:srgbClr val="FF0066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66"/>
                </a:solidFill>
                <a:latin typeface="Times New Roman"/>
                <a:cs typeface="Times New Roman"/>
              </a:rPr>
              <a:t>INTELLIGENCE </a:t>
            </a:r>
            <a:r>
              <a:rPr sz="3000" b="1" dirty="0">
                <a:solidFill>
                  <a:srgbClr val="FF0066"/>
                </a:solidFill>
                <a:latin typeface="Times New Roman"/>
                <a:cs typeface="Times New Roman"/>
              </a:rPr>
              <a:t>AND DATA </a:t>
            </a:r>
            <a:r>
              <a:rPr sz="3000" b="1" spc="-10" dirty="0">
                <a:solidFill>
                  <a:srgbClr val="FF0066"/>
                </a:solidFill>
                <a:latin typeface="Times New Roman"/>
                <a:cs typeface="Times New Roman"/>
              </a:rPr>
              <a:t>SCIENCE</a:t>
            </a:r>
            <a:endParaRPr sz="3000">
              <a:latin typeface="Times New Roman"/>
              <a:cs typeface="Times New Roman"/>
            </a:endParaRPr>
          </a:p>
          <a:p>
            <a:pPr marR="87630" algn="ctr">
              <a:lnSpc>
                <a:spcPct val="100000"/>
              </a:lnSpc>
              <a:spcBef>
                <a:spcPts val="1800"/>
              </a:spcBef>
            </a:pPr>
            <a:r>
              <a:rPr sz="3000" b="1" dirty="0">
                <a:solidFill>
                  <a:srgbClr val="FF0066"/>
                </a:solidFill>
                <a:latin typeface="Times New Roman"/>
                <a:cs typeface="Times New Roman"/>
              </a:rPr>
              <a:t>CGB1122 – DATA </a:t>
            </a:r>
            <a:r>
              <a:rPr sz="3000" b="1" spc="-10" dirty="0">
                <a:solidFill>
                  <a:srgbClr val="FF0066"/>
                </a:solidFill>
                <a:latin typeface="Times New Roman"/>
                <a:cs typeface="Times New Roman"/>
              </a:rPr>
              <a:t>STRUCTURES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16225" y="390525"/>
            <a:ext cx="1827013" cy="17716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26695" y="4190024"/>
            <a:ext cx="131337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latin typeface="Times New Roman"/>
                <a:cs typeface="Times New Roman"/>
              </a:rPr>
              <a:t>A REAL-TIME CHAT APPLICATION </a:t>
            </a:r>
            <a:r>
              <a:rPr sz="4800" b="1" spc="-10" dirty="0">
                <a:latin typeface="Times New Roman"/>
                <a:cs typeface="Times New Roman"/>
              </a:rPr>
              <a:t>SYSTEM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9318" y="9630076"/>
            <a:ext cx="838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8B8B8B"/>
                </a:solidFill>
                <a:latin typeface="Times New Roman"/>
                <a:cs typeface="Times New Roman"/>
              </a:rPr>
              <a:t>9/6/2025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3446" y="6106609"/>
            <a:ext cx="3519170" cy="2482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3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PRESENTED </a:t>
            </a:r>
            <a:r>
              <a:rPr sz="3600" b="1" spc="-25" dirty="0">
                <a:latin typeface="Times New Roman"/>
                <a:cs typeface="Times New Roman"/>
              </a:rPr>
              <a:t>BY </a:t>
            </a:r>
            <a:r>
              <a:rPr sz="3600" b="1" dirty="0">
                <a:latin typeface="Times New Roman"/>
                <a:cs typeface="Times New Roman"/>
              </a:rPr>
              <a:t>KANIKSHA </a:t>
            </a:r>
            <a:r>
              <a:rPr sz="3600" b="1" spc="-50" dirty="0">
                <a:latin typeface="Times New Roman"/>
                <a:cs typeface="Times New Roman"/>
              </a:rPr>
              <a:t>M </a:t>
            </a:r>
            <a:r>
              <a:rPr sz="3600" b="1" spc="-10" dirty="0">
                <a:latin typeface="Times New Roman"/>
                <a:cs typeface="Times New Roman"/>
              </a:rPr>
              <a:t>8115U25AM020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22298" y="6106609"/>
            <a:ext cx="5600700" cy="2482850"/>
          </a:xfrm>
          <a:prstGeom prst="rect">
            <a:avLst/>
          </a:prstGeom>
        </p:spPr>
        <p:txBody>
          <a:bodyPr vert="horz" wrap="square" lIns="0" tIns="2832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2230"/>
              </a:spcBef>
            </a:pPr>
            <a:r>
              <a:rPr sz="3600" b="1" spc="-10" dirty="0">
                <a:latin typeface="Times New Roman"/>
                <a:cs typeface="Times New Roman"/>
              </a:rPr>
              <a:t>SUPERVISOR</a:t>
            </a:r>
            <a:endParaRPr sz="3600">
              <a:latin typeface="Times New Roman"/>
              <a:cs typeface="Times New Roman"/>
            </a:endParaRPr>
          </a:p>
          <a:p>
            <a:pPr marL="520700">
              <a:lnSpc>
                <a:spcPct val="100000"/>
              </a:lnSpc>
              <a:spcBef>
                <a:spcPts val="2130"/>
              </a:spcBef>
            </a:pPr>
            <a:r>
              <a:rPr sz="3600" b="1" dirty="0">
                <a:latin typeface="Times New Roman"/>
                <a:cs typeface="Times New Roman"/>
              </a:rPr>
              <a:t>Mrs.ASHA</a:t>
            </a:r>
            <a:r>
              <a:rPr sz="3600" b="1" spc="-185" dirty="0">
                <a:latin typeface="Times New Roman"/>
                <a:cs typeface="Times New Roman"/>
              </a:rPr>
              <a:t> </a:t>
            </a:r>
            <a:r>
              <a:rPr sz="3600" b="1" spc="-20" dirty="0">
                <a:latin typeface="Times New Roman"/>
                <a:cs typeface="Times New Roman"/>
              </a:rPr>
              <a:t>G..,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30"/>
              </a:spcBef>
            </a:pPr>
            <a:r>
              <a:rPr sz="3600" b="1" dirty="0">
                <a:latin typeface="Times New Roman"/>
                <a:cs typeface="Times New Roman"/>
              </a:rPr>
              <a:t>Assistant</a:t>
            </a:r>
            <a:r>
              <a:rPr sz="3600" b="1" spc="-5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Professor</a:t>
            </a:r>
            <a:r>
              <a:rPr sz="3600" b="1" spc="-5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/</a:t>
            </a:r>
            <a:r>
              <a:rPr sz="3600" b="1" spc="-5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AI&amp;DS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355090">
              <a:lnSpc>
                <a:spcPct val="100000"/>
              </a:lnSpc>
              <a:spcBef>
                <a:spcPts val="100"/>
              </a:spcBef>
            </a:pPr>
            <a:r>
              <a:rPr dirty="0"/>
              <a:t>PRESENTATION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5691" y="1957374"/>
            <a:ext cx="4327525" cy="802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315" marR="140335">
              <a:lnSpc>
                <a:spcPct val="150000"/>
              </a:lnSpc>
              <a:spcBef>
                <a:spcPts val="100"/>
              </a:spcBef>
            </a:pPr>
            <a:r>
              <a:rPr sz="3500" spc="-10" dirty="0">
                <a:latin typeface="Times New Roman"/>
                <a:cs typeface="Times New Roman"/>
              </a:rPr>
              <a:t>1.</a:t>
            </a:r>
            <a:r>
              <a:rPr sz="3500" spc="-53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Project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Introduction 2.</a:t>
            </a:r>
            <a:r>
              <a:rPr sz="3500" spc="-51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Objective</a:t>
            </a:r>
            <a:endParaRPr sz="3500">
              <a:latin typeface="Times New Roman"/>
              <a:cs typeface="Times New Roman"/>
            </a:endParaRPr>
          </a:p>
          <a:p>
            <a:pPr marL="610870" indent="-376555">
              <a:lnSpc>
                <a:spcPct val="100000"/>
              </a:lnSpc>
              <a:spcBef>
                <a:spcPts val="2100"/>
              </a:spcBef>
              <a:buAutoNum type="arabicPeriod" startAt="3"/>
              <a:tabLst>
                <a:tab pos="610870" algn="l"/>
              </a:tabLst>
            </a:pPr>
            <a:r>
              <a:rPr sz="3500" dirty="0">
                <a:latin typeface="Times New Roman"/>
                <a:cs typeface="Times New Roman"/>
              </a:rPr>
              <a:t>Problem</a:t>
            </a:r>
            <a:r>
              <a:rPr sz="3500" spc="-9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Statement</a:t>
            </a:r>
            <a:endParaRPr sz="3500">
              <a:latin typeface="Times New Roman"/>
              <a:cs typeface="Times New Roman"/>
            </a:endParaRPr>
          </a:p>
          <a:p>
            <a:pPr marL="610870" indent="-376555">
              <a:lnSpc>
                <a:spcPct val="100000"/>
              </a:lnSpc>
              <a:spcBef>
                <a:spcPts val="2100"/>
              </a:spcBef>
              <a:buAutoNum type="arabicPeriod" startAt="3"/>
              <a:tabLst>
                <a:tab pos="610870" algn="l"/>
              </a:tabLst>
            </a:pPr>
            <a:r>
              <a:rPr sz="3500" dirty="0">
                <a:latin typeface="Times New Roman"/>
                <a:cs typeface="Times New Roman"/>
              </a:rPr>
              <a:t>Data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structures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spc="-20" dirty="0">
                <a:latin typeface="Times New Roman"/>
                <a:cs typeface="Times New Roman"/>
              </a:rPr>
              <a:t>Used</a:t>
            </a:r>
            <a:endParaRPr sz="3500">
              <a:latin typeface="Times New Roman"/>
              <a:cs typeface="Times New Roman"/>
            </a:endParaRPr>
          </a:p>
          <a:p>
            <a:pPr marL="610870" indent="-376555">
              <a:lnSpc>
                <a:spcPct val="100000"/>
              </a:lnSpc>
              <a:spcBef>
                <a:spcPts val="2100"/>
              </a:spcBef>
              <a:buAutoNum type="arabicPeriod" startAt="3"/>
              <a:tabLst>
                <a:tab pos="610870" algn="l"/>
              </a:tabLst>
            </a:pPr>
            <a:r>
              <a:rPr sz="3500" dirty="0">
                <a:latin typeface="Times New Roman"/>
                <a:cs typeface="Times New Roman"/>
              </a:rPr>
              <a:t>Flow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spc="-20" dirty="0">
                <a:latin typeface="Times New Roman"/>
                <a:cs typeface="Times New Roman"/>
              </a:rPr>
              <a:t>chart</a:t>
            </a:r>
            <a:endParaRPr sz="3500">
              <a:latin typeface="Times New Roman"/>
              <a:cs typeface="Times New Roman"/>
            </a:endParaRPr>
          </a:p>
          <a:p>
            <a:pPr marL="610870" indent="-376555">
              <a:lnSpc>
                <a:spcPct val="100000"/>
              </a:lnSpc>
              <a:spcBef>
                <a:spcPts val="2100"/>
              </a:spcBef>
              <a:buAutoNum type="arabicPeriod" startAt="3"/>
              <a:tabLst>
                <a:tab pos="610870" algn="l"/>
              </a:tabLst>
            </a:pPr>
            <a:r>
              <a:rPr sz="3500" dirty="0">
                <a:latin typeface="Times New Roman"/>
                <a:cs typeface="Times New Roman"/>
              </a:rPr>
              <a:t>Modules</a:t>
            </a:r>
            <a:r>
              <a:rPr sz="3500" spc="-90" dirty="0">
                <a:latin typeface="Times New Roman"/>
                <a:cs typeface="Times New Roman"/>
              </a:rPr>
              <a:t> </a:t>
            </a:r>
            <a:r>
              <a:rPr sz="3500" spc="-20" dirty="0">
                <a:latin typeface="Times New Roman"/>
                <a:cs typeface="Times New Roman"/>
              </a:rPr>
              <a:t>Used</a:t>
            </a:r>
            <a:endParaRPr sz="3500">
              <a:latin typeface="Times New Roman"/>
              <a:cs typeface="Times New Roman"/>
            </a:endParaRPr>
          </a:p>
          <a:p>
            <a:pPr marL="234315" marR="238760" indent="376555">
              <a:lnSpc>
                <a:spcPct val="150000"/>
              </a:lnSpc>
              <a:buAutoNum type="arabicPeriod" startAt="3"/>
              <a:tabLst>
                <a:tab pos="610870" algn="l"/>
              </a:tabLst>
            </a:pPr>
            <a:r>
              <a:rPr sz="3500" dirty="0">
                <a:latin typeface="Times New Roman"/>
                <a:cs typeface="Times New Roman"/>
              </a:rPr>
              <a:t>Output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Screenshots 8.</a:t>
            </a:r>
            <a:r>
              <a:rPr sz="3500" spc="-51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Conclusion</a:t>
            </a:r>
            <a:endParaRPr sz="3500">
              <a:latin typeface="Times New Roman"/>
              <a:cs typeface="Times New Roman"/>
            </a:endParaRPr>
          </a:p>
          <a:p>
            <a:pPr marL="12700" marR="1349375" indent="221615">
              <a:lnSpc>
                <a:spcPct val="150000"/>
              </a:lnSpc>
            </a:pPr>
            <a:r>
              <a:rPr sz="3500" spc="-10" dirty="0">
                <a:latin typeface="Times New Roman"/>
                <a:cs typeface="Times New Roman"/>
              </a:rPr>
              <a:t>9.</a:t>
            </a:r>
            <a:r>
              <a:rPr sz="3500" spc="-53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Future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spc="-20" dirty="0">
                <a:latin typeface="Times New Roman"/>
                <a:cs typeface="Times New Roman"/>
              </a:rPr>
              <a:t>Scope </a:t>
            </a:r>
            <a:r>
              <a:rPr sz="3500" spc="-10" dirty="0">
                <a:latin typeface="Times New Roman"/>
                <a:cs typeface="Times New Roman"/>
              </a:rPr>
              <a:t>10.</a:t>
            </a:r>
            <a:r>
              <a:rPr sz="3500" spc="-509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References</a:t>
            </a:r>
            <a:endParaRPr sz="3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 </a:t>
            </a: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2590" y="3698068"/>
            <a:ext cx="15540990" cy="2425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3500" dirty="0">
                <a:latin typeface="Times New Roman"/>
                <a:cs typeface="Times New Roman"/>
              </a:rPr>
              <a:t>“A</a:t>
            </a:r>
            <a:r>
              <a:rPr sz="3500" spc="459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REAL-</a:t>
            </a:r>
            <a:r>
              <a:rPr sz="3500" dirty="0">
                <a:latin typeface="Times New Roman"/>
                <a:cs typeface="Times New Roman"/>
              </a:rPr>
              <a:t>TIME</a:t>
            </a:r>
            <a:r>
              <a:rPr sz="3500" spc="4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CHAT</a:t>
            </a:r>
            <a:r>
              <a:rPr sz="3500" spc="4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APPLICATION</a:t>
            </a:r>
            <a:r>
              <a:rPr sz="3500" spc="4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SYSTEM</a:t>
            </a:r>
            <a:r>
              <a:rPr sz="3500" spc="4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“enables</a:t>
            </a:r>
            <a:r>
              <a:rPr sz="3500" spc="459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instant</a:t>
            </a:r>
            <a:r>
              <a:rPr sz="3500" spc="46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communication </a:t>
            </a:r>
            <a:r>
              <a:rPr sz="3500" dirty="0">
                <a:latin typeface="Times New Roman"/>
                <a:cs typeface="Times New Roman"/>
              </a:rPr>
              <a:t>between</a:t>
            </a:r>
            <a:r>
              <a:rPr sz="3500" spc="6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users</a:t>
            </a:r>
            <a:r>
              <a:rPr sz="3500" spc="6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over</a:t>
            </a:r>
            <a:r>
              <a:rPr sz="3500" spc="6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the</a:t>
            </a:r>
            <a:r>
              <a:rPr sz="3500" spc="6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internet.</a:t>
            </a:r>
            <a:r>
              <a:rPr sz="3500" spc="6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It</a:t>
            </a:r>
            <a:r>
              <a:rPr sz="3500" spc="6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supports</a:t>
            </a:r>
            <a:r>
              <a:rPr sz="3500" spc="6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one</a:t>
            </a:r>
            <a:r>
              <a:rPr sz="3500" spc="6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to</a:t>
            </a:r>
            <a:r>
              <a:rPr sz="3500" spc="6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one</a:t>
            </a:r>
            <a:r>
              <a:rPr sz="3500" spc="6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6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group</a:t>
            </a:r>
            <a:r>
              <a:rPr sz="3500" spc="6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messaging</a:t>
            </a:r>
            <a:r>
              <a:rPr sz="3500" spc="645" dirty="0">
                <a:latin typeface="Times New Roman"/>
                <a:cs typeface="Times New Roman"/>
              </a:rPr>
              <a:t> </a:t>
            </a:r>
            <a:r>
              <a:rPr sz="3500" spc="-20" dirty="0">
                <a:latin typeface="Times New Roman"/>
                <a:cs typeface="Times New Roman"/>
              </a:rPr>
              <a:t>with </a:t>
            </a:r>
            <a:r>
              <a:rPr sz="3500" dirty="0">
                <a:latin typeface="Times New Roman"/>
                <a:cs typeface="Times New Roman"/>
              </a:rPr>
              <a:t>minimal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latency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using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persistent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connections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such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as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websockets.</a:t>
            </a:r>
            <a:endParaRPr sz="3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816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36480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2099" y="3064802"/>
            <a:ext cx="133349" cy="1333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68487" y="2531389"/>
            <a:ext cx="12217400" cy="482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0029">
              <a:lnSpc>
                <a:spcPct val="150000"/>
              </a:lnSpc>
              <a:spcBef>
                <a:spcPts val="100"/>
              </a:spcBef>
            </a:pPr>
            <a:r>
              <a:rPr sz="3500" dirty="0">
                <a:latin typeface="Times New Roman"/>
                <a:cs typeface="Times New Roman"/>
              </a:rPr>
              <a:t>To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study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understand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real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time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communication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technologies.</a:t>
            </a:r>
            <a:r>
              <a:rPr sz="3500" spc="87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To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design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client-</a:t>
            </a:r>
            <a:r>
              <a:rPr sz="3500" dirty="0">
                <a:latin typeface="Times New Roman"/>
                <a:cs typeface="Times New Roman"/>
              </a:rPr>
              <a:t>server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architecture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for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efficient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message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routing. </a:t>
            </a:r>
            <a:r>
              <a:rPr sz="3500" dirty="0">
                <a:latin typeface="Times New Roman"/>
                <a:cs typeface="Times New Roman"/>
              </a:rPr>
              <a:t>To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integrate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user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authentication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authorization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mechanisms.</a:t>
            </a: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3500" dirty="0">
                <a:latin typeface="Times New Roman"/>
                <a:cs typeface="Times New Roman"/>
              </a:rPr>
              <a:t>To</a:t>
            </a:r>
            <a:r>
              <a:rPr sz="3500" spc="-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store</a:t>
            </a:r>
            <a:r>
              <a:rPr sz="3500" spc="-3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-3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manage</a:t>
            </a:r>
            <a:r>
              <a:rPr sz="3500" spc="-3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chat</a:t>
            </a:r>
            <a:r>
              <a:rPr sz="3500" spc="-3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data</a:t>
            </a:r>
            <a:r>
              <a:rPr sz="3500" spc="-3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using</a:t>
            </a:r>
            <a:r>
              <a:rPr sz="3500" spc="-3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</a:t>
            </a:r>
            <a:r>
              <a:rPr sz="3500" spc="-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data</a:t>
            </a:r>
            <a:r>
              <a:rPr sz="3500" spc="-3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base</a:t>
            </a:r>
            <a:r>
              <a:rPr sz="3500" spc="-3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system.</a:t>
            </a:r>
            <a:endParaRPr sz="35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3500" dirty="0">
                <a:latin typeface="Times New Roman"/>
                <a:cs typeface="Times New Roman"/>
              </a:rPr>
              <a:t>To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ensure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data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consistency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message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delivery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acknowledgement. </a:t>
            </a:r>
            <a:r>
              <a:rPr sz="3500" dirty="0">
                <a:latin typeface="Times New Roman"/>
                <a:cs typeface="Times New Roman"/>
              </a:rPr>
              <a:t>To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optimize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system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performance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for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high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concurrency</a:t>
            </a:r>
            <a:endParaRPr sz="35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2099" y="3864902"/>
            <a:ext cx="133349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2099" y="4665002"/>
            <a:ext cx="133349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62099" y="5465101"/>
            <a:ext cx="133349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2099" y="6265201"/>
            <a:ext cx="133349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2099" y="7065302"/>
            <a:ext cx="133349" cy="13334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pc="-10" dirty="0">
                <a:solidFill>
                  <a:srgbClr val="000000"/>
                </a:solidFill>
              </a:rPr>
              <a:t>9/6/2025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917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 </a:t>
            </a:r>
            <a:r>
              <a:rPr spc="-10" dirty="0"/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35074" y="2557965"/>
            <a:ext cx="16149319" cy="482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3500" dirty="0">
                <a:latin typeface="Times New Roman"/>
                <a:cs typeface="Times New Roman"/>
              </a:rPr>
              <a:t>Many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existing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communication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systems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do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not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provide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efficient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real-</a:t>
            </a:r>
            <a:r>
              <a:rPr sz="3500" dirty="0">
                <a:latin typeface="Times New Roman"/>
                <a:cs typeface="Times New Roman"/>
              </a:rPr>
              <a:t>time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interaction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or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spc="-25" dirty="0">
                <a:latin typeface="Times New Roman"/>
                <a:cs typeface="Times New Roman"/>
              </a:rPr>
              <a:t>are </a:t>
            </a:r>
            <a:r>
              <a:rPr sz="3500" dirty="0">
                <a:latin typeface="Times New Roman"/>
                <a:cs typeface="Times New Roman"/>
              </a:rPr>
              <a:t>too</a:t>
            </a:r>
            <a:r>
              <a:rPr sz="3500" spc="6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complex</a:t>
            </a:r>
            <a:r>
              <a:rPr sz="3500" spc="6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6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costly</a:t>
            </a:r>
            <a:r>
              <a:rPr sz="3500" spc="6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for</a:t>
            </a:r>
            <a:r>
              <a:rPr sz="3500" spc="660" dirty="0">
                <a:latin typeface="Times New Roman"/>
                <a:cs typeface="Times New Roman"/>
              </a:rPr>
              <a:t> </a:t>
            </a:r>
            <a:r>
              <a:rPr sz="3500" spc="-25" dirty="0">
                <a:latin typeface="Times New Roman"/>
                <a:cs typeface="Times New Roman"/>
              </a:rPr>
              <a:t>small-</a:t>
            </a:r>
            <a:r>
              <a:rPr sz="3500" dirty="0">
                <a:latin typeface="Times New Roman"/>
                <a:cs typeface="Times New Roman"/>
              </a:rPr>
              <a:t>scale</a:t>
            </a:r>
            <a:r>
              <a:rPr sz="3500" spc="6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implementation.</a:t>
            </a:r>
            <a:r>
              <a:rPr sz="3500" spc="6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There</a:t>
            </a:r>
            <a:r>
              <a:rPr sz="3500" spc="6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is</a:t>
            </a:r>
            <a:r>
              <a:rPr sz="3500" spc="6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</a:t>
            </a:r>
            <a:r>
              <a:rPr sz="3500" spc="6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need</a:t>
            </a:r>
            <a:r>
              <a:rPr sz="3500" spc="6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to</a:t>
            </a:r>
            <a:r>
              <a:rPr sz="3500" spc="6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develop</a:t>
            </a:r>
            <a:r>
              <a:rPr sz="3500" spc="660" dirty="0">
                <a:latin typeface="Times New Roman"/>
                <a:cs typeface="Times New Roman"/>
              </a:rPr>
              <a:t> </a:t>
            </a:r>
            <a:r>
              <a:rPr sz="3500" spc="-50" dirty="0">
                <a:latin typeface="Times New Roman"/>
                <a:cs typeface="Times New Roman"/>
              </a:rPr>
              <a:t>a </a:t>
            </a:r>
            <a:r>
              <a:rPr sz="3500" dirty="0">
                <a:latin typeface="Times New Roman"/>
                <a:cs typeface="Times New Roman"/>
              </a:rPr>
              <a:t>lightweight,</a:t>
            </a:r>
            <a:r>
              <a:rPr sz="3500" spc="484" dirty="0">
                <a:latin typeface="Times New Roman"/>
                <a:cs typeface="Times New Roman"/>
              </a:rPr>
              <a:t>  </a:t>
            </a:r>
            <a:r>
              <a:rPr sz="3500" spc="-10" dirty="0">
                <a:latin typeface="Times New Roman"/>
                <a:cs typeface="Times New Roman"/>
              </a:rPr>
              <a:t>user-</a:t>
            </a:r>
            <a:r>
              <a:rPr sz="3500" dirty="0">
                <a:latin typeface="Times New Roman"/>
                <a:cs typeface="Times New Roman"/>
              </a:rPr>
              <a:t>friendly</a:t>
            </a:r>
            <a:r>
              <a:rPr sz="3500" spc="490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chat</a:t>
            </a:r>
            <a:r>
              <a:rPr sz="3500" spc="490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application</a:t>
            </a:r>
            <a:r>
              <a:rPr sz="3500" spc="490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that</a:t>
            </a:r>
            <a:r>
              <a:rPr sz="3500" spc="490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allows</a:t>
            </a:r>
            <a:r>
              <a:rPr sz="3500" spc="484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instant</a:t>
            </a:r>
            <a:r>
              <a:rPr sz="3500" spc="490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messaging,</a:t>
            </a:r>
            <a:r>
              <a:rPr sz="3500" spc="490" dirty="0">
                <a:latin typeface="Times New Roman"/>
                <a:cs typeface="Times New Roman"/>
              </a:rPr>
              <a:t>  </a:t>
            </a:r>
            <a:r>
              <a:rPr sz="3500" spc="-10" dirty="0">
                <a:latin typeface="Times New Roman"/>
                <a:cs typeface="Times New Roman"/>
              </a:rPr>
              <a:t>secure </a:t>
            </a:r>
            <a:r>
              <a:rPr sz="3500" dirty="0">
                <a:latin typeface="Times New Roman"/>
                <a:cs typeface="Times New Roman"/>
              </a:rPr>
              <a:t>authentication,</a:t>
            </a:r>
            <a:r>
              <a:rPr sz="3500" spc="39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message</a:t>
            </a:r>
            <a:r>
              <a:rPr sz="3500" spc="39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storage,</a:t>
            </a:r>
            <a:r>
              <a:rPr sz="3500" spc="39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39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reliable</a:t>
            </a:r>
            <a:r>
              <a:rPr sz="3500" spc="39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data</a:t>
            </a:r>
            <a:r>
              <a:rPr sz="3500" spc="39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transmission.</a:t>
            </a:r>
            <a:r>
              <a:rPr sz="3500" spc="39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The</a:t>
            </a:r>
            <a:r>
              <a:rPr sz="3500" spc="39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system</a:t>
            </a:r>
            <a:r>
              <a:rPr sz="3500" spc="39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should</a:t>
            </a:r>
            <a:r>
              <a:rPr sz="3500" spc="390" dirty="0">
                <a:latin typeface="Times New Roman"/>
                <a:cs typeface="Times New Roman"/>
              </a:rPr>
              <a:t> </a:t>
            </a:r>
            <a:r>
              <a:rPr sz="3500" spc="-20" dirty="0">
                <a:latin typeface="Times New Roman"/>
                <a:cs typeface="Times New Roman"/>
              </a:rPr>
              <a:t>also </a:t>
            </a:r>
            <a:r>
              <a:rPr sz="3500" dirty="0">
                <a:latin typeface="Times New Roman"/>
                <a:cs typeface="Times New Roman"/>
              </a:rPr>
              <a:t>handle</a:t>
            </a:r>
            <a:r>
              <a:rPr sz="3500" spc="290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multiple</a:t>
            </a:r>
            <a:r>
              <a:rPr sz="3500" spc="295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users</a:t>
            </a:r>
            <a:r>
              <a:rPr sz="3500" spc="295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simultaneously</a:t>
            </a:r>
            <a:r>
              <a:rPr sz="3500" spc="290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while</a:t>
            </a:r>
            <a:r>
              <a:rPr sz="3500" spc="295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maintaining</a:t>
            </a:r>
            <a:r>
              <a:rPr sz="3500" spc="295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performance</a:t>
            </a:r>
            <a:r>
              <a:rPr sz="3500" spc="290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295" dirty="0">
                <a:latin typeface="Times New Roman"/>
                <a:cs typeface="Times New Roman"/>
              </a:rPr>
              <a:t>  </a:t>
            </a:r>
            <a:r>
              <a:rPr sz="3500" spc="-10" dirty="0">
                <a:latin typeface="Times New Roman"/>
                <a:cs typeface="Times New Roman"/>
              </a:rPr>
              <a:t>security standards.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2067" y="9354606"/>
            <a:ext cx="83883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10" dirty="0">
                <a:latin typeface="Times New Roman"/>
                <a:cs typeface="Times New Roman"/>
              </a:rPr>
              <a:t>9/6/2025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249809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45" dirty="0"/>
              <a:t> </a:t>
            </a:r>
            <a:r>
              <a:rPr dirty="0"/>
              <a:t>structures</a:t>
            </a:r>
            <a:r>
              <a:rPr spc="-145" dirty="0"/>
              <a:t> </a:t>
            </a:r>
            <a:r>
              <a:rPr spc="-20" dirty="0"/>
              <a:t>USED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96151" y="2884233"/>
            <a:ext cx="14316075" cy="486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spc="-10" dirty="0">
                <a:latin typeface="Times New Roman"/>
                <a:cs typeface="Times New Roman"/>
              </a:rPr>
              <a:t>Map/Dictionary</a:t>
            </a:r>
            <a:endParaRPr sz="3500" dirty="0">
              <a:latin typeface="Times New Roman"/>
              <a:cs typeface="Times New Roman"/>
            </a:endParaRPr>
          </a:p>
          <a:p>
            <a:pPr marL="12700" marR="5080" indent="1343660">
              <a:lnSpc>
                <a:spcPct val="100000"/>
              </a:lnSpc>
            </a:pPr>
            <a:r>
              <a:rPr sz="3500" dirty="0">
                <a:latin typeface="Times New Roman"/>
                <a:cs typeface="Times New Roman"/>
              </a:rPr>
              <a:t>Stores</a:t>
            </a:r>
            <a:r>
              <a:rPr sz="3500" spc="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active</a:t>
            </a:r>
            <a:r>
              <a:rPr sz="3500" spc="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users</a:t>
            </a:r>
            <a:r>
              <a:rPr sz="3500" spc="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Map</a:t>
            </a:r>
            <a:r>
              <a:rPr sz="3500" spc="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uses</a:t>
            </a:r>
            <a:r>
              <a:rPr sz="3500" spc="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IDs</a:t>
            </a:r>
            <a:r>
              <a:rPr sz="3500" spc="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to</a:t>
            </a:r>
            <a:r>
              <a:rPr sz="3500" spc="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Websocket</a:t>
            </a:r>
            <a:r>
              <a:rPr sz="3500" spc="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connections</a:t>
            </a:r>
            <a:r>
              <a:rPr sz="3500" spc="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Fast</a:t>
            </a:r>
            <a:r>
              <a:rPr sz="3500" spc="3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lookup </a:t>
            </a:r>
            <a:r>
              <a:rPr sz="3500" dirty="0">
                <a:latin typeface="Times New Roman"/>
                <a:cs typeface="Times New Roman"/>
              </a:rPr>
              <a:t>of</a:t>
            </a:r>
            <a:r>
              <a:rPr sz="3500" spc="-10" dirty="0">
                <a:latin typeface="Times New Roman"/>
                <a:cs typeface="Times New Roman"/>
              </a:rPr>
              <a:t> users.</a:t>
            </a:r>
            <a:endParaRPr sz="3500" dirty="0">
              <a:latin typeface="Times New Roman"/>
              <a:cs typeface="Times New Roman"/>
            </a:endParaRPr>
          </a:p>
          <a:p>
            <a:pPr marL="1234440">
              <a:lnSpc>
                <a:spcPct val="100000"/>
              </a:lnSpc>
            </a:pPr>
            <a:r>
              <a:rPr sz="3500" spc="-10" dirty="0">
                <a:latin typeface="Times New Roman"/>
                <a:cs typeface="Times New Roman"/>
              </a:rPr>
              <a:t>Example</a:t>
            </a:r>
            <a:endParaRPr sz="3500" dirty="0">
              <a:latin typeface="Times New Roman"/>
              <a:cs typeface="Times New Roman"/>
            </a:endParaRPr>
          </a:p>
          <a:p>
            <a:pPr marL="2456815">
              <a:lnSpc>
                <a:spcPct val="100000"/>
              </a:lnSpc>
            </a:pPr>
            <a:r>
              <a:rPr sz="3500" spc="-10" dirty="0">
                <a:latin typeface="Times New Roman"/>
                <a:cs typeface="Times New Roman"/>
              </a:rPr>
              <a:t>user_id-&gt;socket_connection</a:t>
            </a:r>
            <a:endParaRPr sz="3500" dirty="0">
              <a:latin typeface="Times New Roman"/>
              <a:cs typeface="Times New Roman"/>
            </a:endParaRPr>
          </a:p>
          <a:p>
            <a:pPr marL="123825">
              <a:lnSpc>
                <a:spcPct val="100000"/>
              </a:lnSpc>
            </a:pPr>
            <a:r>
              <a:rPr lang="en-GB" sz="3500" b="1" dirty="0">
                <a:latin typeface="Times New Roman"/>
                <a:cs typeface="Times New Roman"/>
              </a:rPr>
              <a:t>Array</a:t>
            </a:r>
          </a:p>
          <a:p>
            <a:pPr marL="123825">
              <a:lnSpc>
                <a:spcPct val="100000"/>
              </a:lnSpc>
            </a:pPr>
            <a:r>
              <a:rPr lang="en-GB" sz="3500" b="1" dirty="0">
                <a:latin typeface="Times New Roman"/>
                <a:cs typeface="Times New Roman"/>
              </a:rPr>
              <a:t>        </a:t>
            </a:r>
            <a:r>
              <a:rPr lang="en-GB" sz="3500" dirty="0">
                <a:latin typeface="Times New Roman"/>
                <a:cs typeface="Times New Roman"/>
              </a:rPr>
              <a:t>1.Stores usernames and passwords.</a:t>
            </a:r>
          </a:p>
          <a:p>
            <a:pPr marL="123825">
              <a:lnSpc>
                <a:spcPct val="100000"/>
              </a:lnSpc>
            </a:pPr>
            <a:r>
              <a:rPr lang="en-GB" sz="3500" b="1" dirty="0">
                <a:latin typeface="Times New Roman"/>
                <a:cs typeface="Times New Roman"/>
              </a:rPr>
              <a:t>        </a:t>
            </a:r>
            <a:r>
              <a:rPr lang="en-GB" sz="3500" dirty="0">
                <a:latin typeface="Times New Roman"/>
                <a:cs typeface="Times New Roman"/>
              </a:rPr>
              <a:t>2.Stores sender, receiver, and message text.</a:t>
            </a:r>
            <a:endParaRPr lang="en-GB" sz="3500" b="1" dirty="0">
              <a:latin typeface="Times New Roman"/>
              <a:cs typeface="Times New Roman"/>
            </a:endParaRPr>
          </a:p>
          <a:p>
            <a:pPr marL="123825">
              <a:lnSpc>
                <a:spcPct val="100000"/>
              </a:lnSpc>
            </a:pPr>
            <a:r>
              <a:rPr lang="en-GB" sz="3500" b="1" dirty="0">
                <a:latin typeface="Times New Roman"/>
                <a:cs typeface="Times New Roman"/>
              </a:rPr>
              <a:t>        </a:t>
            </a:r>
            <a:r>
              <a:rPr lang="en-GB" sz="3500" dirty="0">
                <a:latin typeface="Times New Roman"/>
                <a:cs typeface="Times New Roman"/>
              </a:rPr>
              <a:t>3.Chat History</a:t>
            </a:r>
            <a:endParaRPr lang="en-GB" sz="3500" b="1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25537" y="79044"/>
            <a:ext cx="543687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Architecture</a:t>
            </a:r>
            <a:r>
              <a:rPr spc="-24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11425" y="473935"/>
            <a:ext cx="1827013" cy="17716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0625" y="1028700"/>
            <a:ext cx="5308343" cy="90487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3020695">
              <a:lnSpc>
                <a:spcPct val="100000"/>
              </a:lnSpc>
              <a:spcBef>
                <a:spcPts val="100"/>
              </a:spcBef>
            </a:pPr>
            <a:r>
              <a:rPr dirty="0"/>
              <a:t>MODULES </a:t>
            </a:r>
            <a:r>
              <a:rPr spc="-20" dirty="0"/>
              <a:t>USED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35175" y="3333870"/>
            <a:ext cx="6085840" cy="3225800"/>
          </a:xfrm>
          <a:prstGeom prst="rect">
            <a:avLst/>
          </a:prstGeom>
        </p:spPr>
        <p:txBody>
          <a:bodyPr vert="horz" wrap="square" lIns="0" tIns="279400" rIns="0" bIns="0" rtlCol="0">
            <a:spAutoFit/>
          </a:bodyPr>
          <a:lstStyle/>
          <a:p>
            <a:pPr marL="344805" indent="-336550">
              <a:lnSpc>
                <a:spcPct val="100000"/>
              </a:lnSpc>
              <a:spcBef>
                <a:spcPts val="2200"/>
              </a:spcBef>
              <a:buSzPct val="97142"/>
              <a:buAutoNum type="arabicPeriod"/>
              <a:tabLst>
                <a:tab pos="344805" algn="l"/>
              </a:tabLst>
            </a:pPr>
            <a:r>
              <a:rPr sz="3500" dirty="0">
                <a:latin typeface="Times New Roman"/>
                <a:cs typeface="Times New Roman"/>
              </a:rPr>
              <a:t>User</a:t>
            </a:r>
            <a:r>
              <a:rPr sz="3500" spc="-8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Authentication</a:t>
            </a:r>
            <a:r>
              <a:rPr sz="3500" spc="-7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Module</a:t>
            </a:r>
            <a:endParaRPr sz="3500">
              <a:latin typeface="Times New Roman"/>
              <a:cs typeface="Times New Roman"/>
            </a:endParaRPr>
          </a:p>
          <a:p>
            <a:pPr marL="344805" indent="-336550">
              <a:lnSpc>
                <a:spcPct val="100000"/>
              </a:lnSpc>
              <a:spcBef>
                <a:spcPts val="2100"/>
              </a:spcBef>
              <a:buSzPct val="97142"/>
              <a:buAutoNum type="arabicPeriod"/>
              <a:tabLst>
                <a:tab pos="344805" algn="l"/>
              </a:tabLst>
            </a:pPr>
            <a:r>
              <a:rPr sz="3500" dirty="0">
                <a:latin typeface="Times New Roman"/>
                <a:cs typeface="Times New Roman"/>
              </a:rPr>
              <a:t>User</a:t>
            </a:r>
            <a:r>
              <a:rPr sz="3500" spc="-3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Management</a:t>
            </a:r>
            <a:endParaRPr sz="3500">
              <a:latin typeface="Times New Roman"/>
              <a:cs typeface="Times New Roman"/>
            </a:endParaRPr>
          </a:p>
          <a:p>
            <a:pPr marL="344805" indent="-336550">
              <a:lnSpc>
                <a:spcPct val="100000"/>
              </a:lnSpc>
              <a:spcBef>
                <a:spcPts val="2100"/>
              </a:spcBef>
              <a:buSzPct val="97142"/>
              <a:buAutoNum type="arabicPeriod"/>
              <a:tabLst>
                <a:tab pos="344805" algn="l"/>
              </a:tabLst>
            </a:pPr>
            <a:r>
              <a:rPr sz="3500" dirty="0">
                <a:latin typeface="Times New Roman"/>
                <a:cs typeface="Times New Roman"/>
              </a:rPr>
              <a:t>Real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–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Time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Messaging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Module</a:t>
            </a:r>
            <a:endParaRPr sz="3500">
              <a:latin typeface="Times New Roman"/>
              <a:cs typeface="Times New Roman"/>
            </a:endParaRPr>
          </a:p>
          <a:p>
            <a:pPr marL="344805" indent="-336550">
              <a:lnSpc>
                <a:spcPct val="100000"/>
              </a:lnSpc>
              <a:spcBef>
                <a:spcPts val="2100"/>
              </a:spcBef>
              <a:buSzPct val="97142"/>
              <a:buAutoNum type="arabicPeriod"/>
              <a:tabLst>
                <a:tab pos="344805" algn="l"/>
              </a:tabLst>
            </a:pPr>
            <a:r>
              <a:rPr sz="3500" dirty="0">
                <a:latin typeface="Times New Roman"/>
                <a:cs typeface="Times New Roman"/>
              </a:rPr>
              <a:t>Chat</a:t>
            </a:r>
            <a:r>
              <a:rPr sz="3500" spc="-8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Room/Group</a:t>
            </a:r>
            <a:r>
              <a:rPr sz="3500" spc="-8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Module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816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MODULE 1 – USER </a:t>
            </a:r>
            <a:r>
              <a:rPr spc="-10" dirty="0"/>
              <a:t>AUTHENTICATION</a:t>
            </a:r>
          </a:p>
          <a:p>
            <a:pPr marR="134620" algn="ctr">
              <a:lnSpc>
                <a:spcPct val="100000"/>
              </a:lnSpc>
            </a:pPr>
            <a:r>
              <a:rPr spc="-10" dirty="0"/>
              <a:t>MODULE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460">
              <a:lnSpc>
                <a:spcPts val="3825"/>
              </a:lnSpc>
              <a:spcBef>
                <a:spcPts val="100"/>
              </a:spcBef>
            </a:pPr>
            <a:r>
              <a:rPr spc="-10" dirty="0"/>
              <a:t>Purpose:</a:t>
            </a:r>
          </a:p>
          <a:p>
            <a:pPr marL="1012825">
              <a:lnSpc>
                <a:spcPts val="3450"/>
              </a:lnSpc>
            </a:pPr>
            <a:r>
              <a:rPr b="0" dirty="0">
                <a:latin typeface="Times New Roman"/>
                <a:cs typeface="Times New Roman"/>
              </a:rPr>
              <a:t>Handle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user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registration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login</a:t>
            </a:r>
          </a:p>
          <a:p>
            <a:pPr marL="124460">
              <a:lnSpc>
                <a:spcPts val="3450"/>
              </a:lnSpc>
            </a:pPr>
            <a:r>
              <a:rPr spc="-10" dirty="0"/>
              <a:t>Functions</a:t>
            </a:r>
          </a:p>
          <a:p>
            <a:pPr marL="124460" marR="5080" indent="777240">
              <a:lnSpc>
                <a:spcPts val="3450"/>
              </a:lnSpc>
              <a:spcBef>
                <a:spcPts val="365"/>
              </a:spcBef>
            </a:pPr>
            <a:r>
              <a:rPr b="0" dirty="0">
                <a:latin typeface="Times New Roman"/>
                <a:cs typeface="Times New Roman"/>
              </a:rPr>
              <a:t>User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registration,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Login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logout,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Password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encryption,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JWT/Session </a:t>
            </a:r>
            <a:r>
              <a:rPr b="0" dirty="0">
                <a:latin typeface="Times New Roman"/>
                <a:cs typeface="Times New Roman"/>
              </a:rPr>
              <a:t>management,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Role-</a:t>
            </a:r>
            <a:r>
              <a:rPr b="0" dirty="0">
                <a:latin typeface="Times New Roman"/>
                <a:cs typeface="Times New Roman"/>
              </a:rPr>
              <a:t>based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access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control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816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95526" y="532606"/>
            <a:ext cx="958278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MODULE 2 – USER </a:t>
            </a:r>
            <a:r>
              <a:rPr spc="-10" dirty="0"/>
              <a:t>MANAGEMENT</a:t>
            </a:r>
          </a:p>
          <a:p>
            <a:pPr marL="142875" algn="ctr">
              <a:lnSpc>
                <a:spcPct val="100000"/>
              </a:lnSpc>
            </a:pPr>
            <a:r>
              <a:rPr spc="-10" dirty="0"/>
              <a:t>MODULE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25"/>
              </a:lnSpc>
              <a:spcBef>
                <a:spcPts val="100"/>
              </a:spcBef>
            </a:pPr>
            <a:r>
              <a:rPr spc="-10" dirty="0"/>
              <a:t>Purpose:</a:t>
            </a:r>
          </a:p>
          <a:p>
            <a:pPr marL="901065">
              <a:lnSpc>
                <a:spcPts val="3450"/>
              </a:lnSpc>
            </a:pPr>
            <a:r>
              <a:rPr b="0" dirty="0">
                <a:latin typeface="Times New Roman"/>
                <a:cs typeface="Times New Roman"/>
              </a:rPr>
              <a:t>Manages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user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profiles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status</a:t>
            </a:r>
          </a:p>
          <a:p>
            <a:pPr marL="12700">
              <a:lnSpc>
                <a:spcPts val="3450"/>
              </a:lnSpc>
            </a:pPr>
            <a:r>
              <a:rPr spc="-10" dirty="0"/>
              <a:t>Functions:</a:t>
            </a:r>
          </a:p>
          <a:p>
            <a:pPr marL="12700" marR="5080" indent="999490">
              <a:lnSpc>
                <a:spcPts val="3450"/>
              </a:lnSpc>
              <a:spcBef>
                <a:spcPts val="365"/>
              </a:spcBef>
            </a:pPr>
            <a:r>
              <a:rPr b="0" dirty="0">
                <a:latin typeface="Times New Roman"/>
                <a:cs typeface="Times New Roman"/>
              </a:rPr>
              <a:t>View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edit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profile,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Upload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profile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picture,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Track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online/offline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status,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Maintain friend/contact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816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32639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941" y="0"/>
            <a:ext cx="18152124" cy="1028556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816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32639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9864" y="0"/>
            <a:ext cx="17868280" cy="1028664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816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32639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461" y="0"/>
            <a:ext cx="17755076" cy="102869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816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925955">
              <a:lnSpc>
                <a:spcPct val="100000"/>
              </a:lnSpc>
              <a:spcBef>
                <a:spcPts val="100"/>
              </a:spcBef>
            </a:pPr>
            <a:r>
              <a:rPr dirty="0"/>
              <a:t>OUTPUT </a:t>
            </a:r>
            <a:r>
              <a:rPr spc="-10" dirty="0"/>
              <a:t>EXPLANATION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94374" y="6740128"/>
            <a:ext cx="133349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94374" y="7273527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94374" y="7806927"/>
            <a:ext cx="133349" cy="1333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23036" y="3273091"/>
            <a:ext cx="8362315" cy="482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indent="-37655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89255" algn="l"/>
              </a:tabLst>
            </a:pPr>
            <a:r>
              <a:rPr sz="3500" dirty="0">
                <a:latin typeface="Times New Roman"/>
                <a:cs typeface="Times New Roman"/>
              </a:rPr>
              <a:t>Three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messages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are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inserted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using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enqueue()</a:t>
            </a:r>
            <a:endParaRPr sz="3500">
              <a:latin typeface="Times New Roman"/>
              <a:cs typeface="Times New Roman"/>
            </a:endParaRPr>
          </a:p>
          <a:p>
            <a:pPr marL="389255" indent="-376555">
              <a:lnSpc>
                <a:spcPct val="100000"/>
              </a:lnSpc>
              <a:buAutoNum type="arabicPeriod"/>
              <a:tabLst>
                <a:tab pos="389255" algn="l"/>
              </a:tabLst>
            </a:pPr>
            <a:r>
              <a:rPr sz="3500" dirty="0">
                <a:latin typeface="Times New Roman"/>
                <a:cs typeface="Times New Roman"/>
              </a:rPr>
              <a:t>All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messages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are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displayed</a:t>
            </a:r>
            <a:endParaRPr sz="3500">
              <a:latin typeface="Times New Roman"/>
              <a:cs typeface="Times New Roman"/>
            </a:endParaRPr>
          </a:p>
          <a:p>
            <a:pPr marL="12700" marR="571500" indent="376555">
              <a:lnSpc>
                <a:spcPct val="100000"/>
              </a:lnSpc>
              <a:buAutoNum type="arabicPeriod"/>
              <a:tabLst>
                <a:tab pos="389255" algn="l"/>
              </a:tabLst>
            </a:pPr>
            <a:r>
              <a:rPr sz="3500" dirty="0">
                <a:latin typeface="Times New Roman"/>
                <a:cs typeface="Times New Roman"/>
              </a:rPr>
              <a:t>One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message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is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removed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using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dequeue() 4.</a:t>
            </a:r>
            <a:r>
              <a:rPr sz="3500" spc="-53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Remaining</a:t>
            </a:r>
            <a:r>
              <a:rPr sz="3500" spc="-9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messages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are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displayed</a:t>
            </a: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3500">
              <a:latin typeface="Times New Roman"/>
              <a:cs typeface="Times New Roman"/>
            </a:endParaRPr>
          </a:p>
          <a:p>
            <a:pPr marL="389890" marR="252095">
              <a:lnSpc>
                <a:spcPct val="100000"/>
              </a:lnSpc>
              <a:spcBef>
                <a:spcPts val="5"/>
              </a:spcBef>
            </a:pPr>
            <a:r>
              <a:rPr sz="3500" dirty="0">
                <a:latin typeface="Times New Roman"/>
                <a:cs typeface="Times New Roman"/>
              </a:rPr>
              <a:t>How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This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Connects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to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Chat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Application: </a:t>
            </a:r>
            <a:r>
              <a:rPr sz="3500" dirty="0">
                <a:latin typeface="Times New Roman"/>
                <a:cs typeface="Times New Roman"/>
              </a:rPr>
              <a:t>When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user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sends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message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→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enqueue() </a:t>
            </a:r>
            <a:r>
              <a:rPr sz="3500" dirty="0">
                <a:latin typeface="Times New Roman"/>
                <a:cs typeface="Times New Roman"/>
              </a:rPr>
              <a:t>When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receiver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reads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message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→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dequeue() </a:t>
            </a:r>
            <a:r>
              <a:rPr sz="3500" dirty="0">
                <a:latin typeface="Times New Roman"/>
                <a:cs typeface="Times New Roman"/>
              </a:rPr>
              <a:t>First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message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sent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→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First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delivered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816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338645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8347" y="2983769"/>
            <a:ext cx="8677275" cy="482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805" indent="-336550">
              <a:lnSpc>
                <a:spcPct val="100000"/>
              </a:lnSpc>
              <a:spcBef>
                <a:spcPts val="100"/>
              </a:spcBef>
              <a:buSzPct val="97142"/>
              <a:buAutoNum type="arabicPeriod"/>
              <a:tabLst>
                <a:tab pos="344805" algn="l"/>
              </a:tabLst>
            </a:pPr>
            <a:r>
              <a:rPr sz="3500" dirty="0">
                <a:latin typeface="Times New Roman"/>
                <a:cs typeface="Times New Roman"/>
              </a:rPr>
              <a:t>Maintains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message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order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using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FIFO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principle</a:t>
            </a: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Times New Roman"/>
              <a:buAutoNum type="arabicPeriod"/>
            </a:pPr>
            <a:endParaRPr sz="3500">
              <a:latin typeface="Times New Roman"/>
              <a:cs typeface="Times New Roman"/>
            </a:endParaRPr>
          </a:p>
          <a:p>
            <a:pPr marL="344805" indent="-336550">
              <a:lnSpc>
                <a:spcPct val="100000"/>
              </a:lnSpc>
              <a:spcBef>
                <a:spcPts val="5"/>
              </a:spcBef>
              <a:buSzPct val="97142"/>
              <a:buAutoNum type="arabicPeriod"/>
              <a:tabLst>
                <a:tab pos="344805" algn="l"/>
              </a:tabLst>
            </a:pPr>
            <a:r>
              <a:rPr sz="3500" dirty="0">
                <a:latin typeface="Times New Roman"/>
                <a:cs typeface="Times New Roman"/>
              </a:rPr>
              <a:t>Simple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easy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to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implement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in</a:t>
            </a:r>
            <a:r>
              <a:rPr sz="3500" spc="-50" dirty="0">
                <a:latin typeface="Times New Roman"/>
                <a:cs typeface="Times New Roman"/>
              </a:rPr>
              <a:t> C</a:t>
            </a:r>
            <a:endParaRPr sz="3500">
              <a:latin typeface="Times New Roman"/>
              <a:cs typeface="Times New Roman"/>
            </a:endParaRPr>
          </a:p>
          <a:p>
            <a:pPr marL="12700" marR="5080" indent="-4445">
              <a:lnSpc>
                <a:spcPct val="200000"/>
              </a:lnSpc>
              <a:buSzPct val="97142"/>
              <a:buAutoNum type="arabicPeriod"/>
              <a:tabLst>
                <a:tab pos="344805" algn="l"/>
              </a:tabLst>
            </a:pPr>
            <a:r>
              <a:rPr sz="3500" dirty="0">
                <a:latin typeface="Times New Roman"/>
                <a:cs typeface="Times New Roman"/>
              </a:rPr>
              <a:t>	Ensures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smooth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organized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communication </a:t>
            </a:r>
            <a:r>
              <a:rPr sz="3500" dirty="0">
                <a:latin typeface="Times New Roman"/>
                <a:cs typeface="Times New Roman"/>
              </a:rPr>
              <a:t>4.Processes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messages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efficiently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one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by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3500" spc="-25" dirty="0">
                <a:latin typeface="Times New Roman"/>
                <a:cs typeface="Times New Roman"/>
              </a:rPr>
              <a:t>one </a:t>
            </a:r>
            <a:r>
              <a:rPr sz="3500" dirty="0">
                <a:latin typeface="Times New Roman"/>
                <a:cs typeface="Times New Roman"/>
              </a:rPr>
              <a:t>5.Simulates</a:t>
            </a:r>
            <a:r>
              <a:rPr sz="3500" spc="-8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real-</a:t>
            </a:r>
            <a:r>
              <a:rPr sz="3500" dirty="0">
                <a:latin typeface="Times New Roman"/>
                <a:cs typeface="Times New Roman"/>
              </a:rPr>
              <a:t>time</a:t>
            </a:r>
            <a:r>
              <a:rPr sz="3500" spc="-8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chat</a:t>
            </a:r>
            <a:r>
              <a:rPr sz="3500" spc="-8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system</a:t>
            </a:r>
            <a:r>
              <a:rPr sz="3500" spc="-8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behavior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816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33623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87829" y="3563842"/>
            <a:ext cx="14712315" cy="482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500" dirty="0">
                <a:latin typeface="Times New Roman"/>
                <a:cs typeface="Times New Roman"/>
              </a:rPr>
              <a:t>The</a:t>
            </a:r>
            <a:r>
              <a:rPr sz="3500" spc="660" dirty="0">
                <a:latin typeface="Times New Roman"/>
                <a:cs typeface="Times New Roman"/>
              </a:rPr>
              <a:t> </a:t>
            </a:r>
            <a:r>
              <a:rPr sz="3500" spc="-20" dirty="0">
                <a:latin typeface="Times New Roman"/>
                <a:cs typeface="Times New Roman"/>
              </a:rPr>
              <a:t>Real-</a:t>
            </a:r>
            <a:r>
              <a:rPr sz="3500" dirty="0">
                <a:latin typeface="Times New Roman"/>
                <a:cs typeface="Times New Roman"/>
              </a:rPr>
              <a:t>Time</a:t>
            </a:r>
            <a:r>
              <a:rPr sz="3500" spc="6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Chat</a:t>
            </a:r>
            <a:r>
              <a:rPr sz="3500" spc="6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Application</a:t>
            </a:r>
            <a:r>
              <a:rPr sz="3500" spc="6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System</a:t>
            </a:r>
            <a:r>
              <a:rPr sz="3500" spc="6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successfully</a:t>
            </a:r>
            <a:r>
              <a:rPr sz="3500" spc="6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demonstrates</a:t>
            </a:r>
            <a:r>
              <a:rPr sz="3500" spc="6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the</a:t>
            </a:r>
            <a:r>
              <a:rPr sz="3500" spc="66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design</a:t>
            </a:r>
            <a:endParaRPr sz="3500">
              <a:latin typeface="Times New Roman"/>
              <a:cs typeface="Times New Roman"/>
            </a:endParaRPr>
          </a:p>
          <a:p>
            <a:pPr marL="12700" marR="5080" algn="just">
              <a:lnSpc>
                <a:spcPct val="200000"/>
              </a:lnSpc>
            </a:pP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85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Implementation</a:t>
            </a:r>
            <a:r>
              <a:rPr sz="3500" spc="90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of</a:t>
            </a:r>
            <a:r>
              <a:rPr sz="3500" spc="90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an</a:t>
            </a:r>
            <a:r>
              <a:rPr sz="3500" spc="85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instant</a:t>
            </a:r>
            <a:r>
              <a:rPr sz="3500" spc="90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messaging</a:t>
            </a:r>
            <a:r>
              <a:rPr sz="3500" spc="85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platform</a:t>
            </a:r>
            <a:r>
              <a:rPr sz="3500" spc="90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that</a:t>
            </a:r>
            <a:r>
              <a:rPr sz="3500" spc="90" dirty="0">
                <a:latin typeface="Times New Roman"/>
                <a:cs typeface="Times New Roman"/>
              </a:rPr>
              <a:t>  </a:t>
            </a:r>
            <a:r>
              <a:rPr sz="3500" dirty="0">
                <a:latin typeface="Times New Roman"/>
                <a:cs typeface="Times New Roman"/>
              </a:rPr>
              <a:t>enables</a:t>
            </a:r>
            <a:r>
              <a:rPr sz="3500" spc="85" dirty="0">
                <a:latin typeface="Times New Roman"/>
                <a:cs typeface="Times New Roman"/>
              </a:rPr>
              <a:t>  </a:t>
            </a:r>
            <a:r>
              <a:rPr sz="3500" spc="-10" dirty="0">
                <a:latin typeface="Times New Roman"/>
                <a:cs typeface="Times New Roman"/>
              </a:rPr>
              <a:t>seamless </a:t>
            </a:r>
            <a:r>
              <a:rPr sz="3500" dirty="0">
                <a:latin typeface="Times New Roman"/>
                <a:cs typeface="Times New Roman"/>
              </a:rPr>
              <a:t>communication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between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users.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By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utilizing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real-</a:t>
            </a:r>
            <a:r>
              <a:rPr sz="3500" dirty="0">
                <a:latin typeface="Times New Roman"/>
                <a:cs typeface="Times New Roman"/>
              </a:rPr>
              <a:t>time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communication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technologies </a:t>
            </a:r>
            <a:r>
              <a:rPr sz="3500" dirty="0">
                <a:latin typeface="Times New Roman"/>
                <a:cs typeface="Times New Roman"/>
              </a:rPr>
              <a:t>such</a:t>
            </a:r>
            <a:r>
              <a:rPr sz="3500" spc="8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as</a:t>
            </a:r>
            <a:r>
              <a:rPr sz="3500" spc="8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WebSockets</a:t>
            </a:r>
            <a:r>
              <a:rPr sz="3500" spc="844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8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</a:t>
            </a:r>
            <a:r>
              <a:rPr sz="3500" spc="84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client-</a:t>
            </a:r>
            <a:r>
              <a:rPr sz="3500" dirty="0">
                <a:latin typeface="Times New Roman"/>
                <a:cs typeface="Times New Roman"/>
              </a:rPr>
              <a:t>server</a:t>
            </a:r>
            <a:r>
              <a:rPr sz="3500" spc="8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architecture,</a:t>
            </a:r>
            <a:r>
              <a:rPr sz="3500" spc="844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the</a:t>
            </a:r>
            <a:r>
              <a:rPr sz="3500" spc="8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system</a:t>
            </a:r>
            <a:r>
              <a:rPr sz="3500" spc="8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ensures</a:t>
            </a:r>
            <a:r>
              <a:rPr sz="3500" spc="844" dirty="0">
                <a:latin typeface="Times New Roman"/>
                <a:cs typeface="Times New Roman"/>
              </a:rPr>
              <a:t> </a:t>
            </a:r>
            <a:r>
              <a:rPr sz="3500" spc="-25" dirty="0">
                <a:latin typeface="Times New Roman"/>
                <a:cs typeface="Times New Roman"/>
              </a:rPr>
              <a:t>low </a:t>
            </a:r>
            <a:r>
              <a:rPr sz="3500" dirty="0">
                <a:latin typeface="Times New Roman"/>
                <a:cs typeface="Times New Roman"/>
              </a:rPr>
              <a:t>latency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efficient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message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delivery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816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3100705">
              <a:lnSpc>
                <a:spcPct val="100000"/>
              </a:lnSpc>
              <a:spcBef>
                <a:spcPts val="100"/>
              </a:spcBef>
            </a:pPr>
            <a:r>
              <a:rPr dirty="0"/>
              <a:t>FUTURE </a:t>
            </a:r>
            <a:r>
              <a:rPr spc="-10" dirty="0"/>
              <a:t>SCOPE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55428" y="3907694"/>
            <a:ext cx="9005570" cy="269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8380" algn="l"/>
                <a:tab pos="3213735" algn="l"/>
                <a:tab pos="4358640" algn="l"/>
                <a:tab pos="6761480" algn="l"/>
                <a:tab pos="8375650" algn="l"/>
              </a:tabLst>
            </a:pPr>
            <a:r>
              <a:rPr sz="3500" spc="-25" dirty="0">
                <a:latin typeface="Times New Roman"/>
                <a:cs typeface="Times New Roman"/>
              </a:rPr>
              <a:t>The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spc="-20" dirty="0">
                <a:latin typeface="Times New Roman"/>
                <a:cs typeface="Times New Roman"/>
              </a:rPr>
              <a:t>Real-Time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spc="-20" dirty="0">
                <a:latin typeface="Times New Roman"/>
                <a:cs typeface="Times New Roman"/>
              </a:rPr>
              <a:t>Chat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spc="-10" dirty="0">
                <a:latin typeface="Times New Roman"/>
                <a:cs typeface="Times New Roman"/>
              </a:rPr>
              <a:t>Application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spc="-10" dirty="0">
                <a:latin typeface="Times New Roman"/>
                <a:cs typeface="Times New Roman"/>
              </a:rPr>
              <a:t>System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spc="-25" dirty="0">
                <a:latin typeface="Times New Roman"/>
                <a:cs typeface="Times New Roman"/>
              </a:rPr>
              <a:t>can</a:t>
            </a:r>
            <a:endParaRPr sz="3500">
              <a:latin typeface="Times New Roman"/>
              <a:cs typeface="Times New Roman"/>
            </a:endParaRPr>
          </a:p>
          <a:p>
            <a:pPr marL="12700" marR="335915">
              <a:lnSpc>
                <a:spcPct val="200000"/>
              </a:lnSpc>
              <a:tabLst>
                <a:tab pos="2347595" algn="l"/>
                <a:tab pos="4435475" algn="l"/>
                <a:tab pos="6251575" algn="l"/>
                <a:tab pos="7303770" algn="l"/>
              </a:tabLst>
            </a:pPr>
            <a:r>
              <a:rPr sz="3500" spc="-10" dirty="0">
                <a:latin typeface="Times New Roman"/>
                <a:cs typeface="Times New Roman"/>
              </a:rPr>
              <a:t>integrating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spc="-10" dirty="0">
                <a:latin typeface="Times New Roman"/>
                <a:cs typeface="Times New Roman"/>
              </a:rPr>
              <a:t>advanced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spc="-10" dirty="0">
                <a:latin typeface="Times New Roman"/>
                <a:cs typeface="Times New Roman"/>
              </a:rPr>
              <a:t>features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spc="-25" dirty="0">
                <a:latin typeface="Times New Roman"/>
                <a:cs typeface="Times New Roman"/>
              </a:rPr>
              <a:t>and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spc="-10" dirty="0">
                <a:latin typeface="Times New Roman"/>
                <a:cs typeface="Times New Roman"/>
              </a:rPr>
              <a:t>modern </a:t>
            </a:r>
            <a:r>
              <a:rPr sz="3500" dirty="0">
                <a:latin typeface="Times New Roman"/>
                <a:cs typeface="Times New Roman"/>
              </a:rPr>
              <a:t>functionality,</a:t>
            </a:r>
            <a:r>
              <a:rPr sz="3500" spc="-7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scalability,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and</a:t>
            </a:r>
            <a:r>
              <a:rPr sz="3500" spc="-7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user</a:t>
            </a:r>
            <a:r>
              <a:rPr sz="3500" spc="-7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experience.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816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214226" y="3907694"/>
            <a:ext cx="2272030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0805" algn="r">
              <a:lnSpc>
                <a:spcPct val="100000"/>
              </a:lnSpc>
              <a:spcBef>
                <a:spcPts val="100"/>
              </a:spcBef>
              <a:tabLst>
                <a:tab pos="724535" algn="l"/>
              </a:tabLst>
            </a:pPr>
            <a:r>
              <a:rPr sz="3500" spc="-25" dirty="0">
                <a:latin typeface="Times New Roman"/>
                <a:cs typeface="Times New Roman"/>
              </a:rPr>
              <a:t>be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spc="-10" dirty="0">
                <a:latin typeface="Times New Roman"/>
                <a:cs typeface="Times New Roman"/>
              </a:rPr>
              <a:t>further</a:t>
            </a: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35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3500" spc="-10" dirty="0">
                <a:latin typeface="Times New Roman"/>
                <a:cs typeface="Times New Roman"/>
              </a:rPr>
              <a:t>technologies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79640" y="3907694"/>
            <a:ext cx="2453005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1982470" algn="l"/>
              </a:tabLst>
            </a:pPr>
            <a:r>
              <a:rPr sz="3500" spc="-10" dirty="0">
                <a:latin typeface="Times New Roman"/>
                <a:cs typeface="Times New Roman"/>
              </a:rPr>
              <a:t>enhanced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spc="-25" dirty="0">
                <a:latin typeface="Times New Roman"/>
                <a:cs typeface="Times New Roman"/>
              </a:rPr>
              <a:t>by</a:t>
            </a: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35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  <a:tabLst>
                <a:tab pos="755650" algn="l"/>
              </a:tabLst>
            </a:pPr>
            <a:r>
              <a:rPr sz="3500" spc="-25" dirty="0">
                <a:latin typeface="Times New Roman"/>
                <a:cs typeface="Times New Roman"/>
              </a:rPr>
              <a:t>to</a:t>
            </a:r>
            <a:r>
              <a:rPr sz="3500" dirty="0">
                <a:latin typeface="Times New Roman"/>
                <a:cs typeface="Times New Roman"/>
              </a:rPr>
              <a:t>	</a:t>
            </a:r>
            <a:r>
              <a:rPr sz="3500" spc="-10" dirty="0">
                <a:latin typeface="Times New Roman"/>
                <a:cs typeface="Times New Roman"/>
              </a:rPr>
              <a:t>improve</a:t>
            </a:r>
            <a:endParaRPr sz="3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3378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74" y="321468"/>
            <a:ext cx="1598302" cy="15859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85218" y="500062"/>
            <a:ext cx="1827013" cy="17716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55349" y="3691001"/>
            <a:ext cx="9443720" cy="3873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805" indent="-336550">
              <a:lnSpc>
                <a:spcPct val="100000"/>
              </a:lnSpc>
              <a:spcBef>
                <a:spcPts val="100"/>
              </a:spcBef>
              <a:buSzPct val="97142"/>
              <a:buAutoNum type="arabicPeriod"/>
              <a:tabLst>
                <a:tab pos="344805" algn="l"/>
              </a:tabLst>
            </a:pPr>
            <a:r>
              <a:rPr sz="3500" dirty="0">
                <a:latin typeface="Times New Roman"/>
                <a:cs typeface="Times New Roman"/>
              </a:rPr>
              <a:t>WebRTC</a:t>
            </a:r>
            <a:r>
              <a:rPr sz="3500" spc="-8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Documentation,</a:t>
            </a:r>
            <a:r>
              <a:rPr sz="3500" spc="-8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Google</a:t>
            </a:r>
            <a:r>
              <a:rPr sz="3500" spc="-8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Developers.</a:t>
            </a: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  <a:buFont typeface="Times New Roman"/>
              <a:buAutoNum type="arabicPeriod"/>
            </a:pPr>
            <a:endParaRPr sz="3500">
              <a:latin typeface="Times New Roman"/>
              <a:cs typeface="Times New Roman"/>
            </a:endParaRPr>
          </a:p>
          <a:p>
            <a:pPr marL="1345565">
              <a:lnSpc>
                <a:spcPct val="100000"/>
              </a:lnSpc>
              <a:spcBef>
                <a:spcPts val="5"/>
              </a:spcBef>
            </a:pPr>
            <a:r>
              <a:rPr sz="3500" dirty="0">
                <a:latin typeface="Times New Roman"/>
                <a:cs typeface="Times New Roman"/>
              </a:rPr>
              <a:t>Available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at: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u="heavy" spc="-10" dirty="0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Times New Roman"/>
                <a:cs typeface="Times New Roman"/>
                <a:hlinkClick r:id="rId4"/>
              </a:rPr>
              <a:t>https://webrtc.org</a:t>
            </a: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3500">
              <a:latin typeface="Times New Roman"/>
              <a:cs typeface="Times New Roman"/>
            </a:endParaRPr>
          </a:p>
          <a:p>
            <a:pPr marL="344805" indent="-336550">
              <a:lnSpc>
                <a:spcPct val="100000"/>
              </a:lnSpc>
              <a:buSzPct val="97142"/>
              <a:buAutoNum type="arabicPeriod" startAt="2"/>
              <a:tabLst>
                <a:tab pos="344805" algn="l"/>
              </a:tabLst>
            </a:pPr>
            <a:r>
              <a:rPr sz="3500" dirty="0">
                <a:latin typeface="Times New Roman"/>
                <a:cs typeface="Times New Roman"/>
              </a:rPr>
              <a:t>MongoDB</a:t>
            </a:r>
            <a:r>
              <a:rPr sz="3500" spc="-10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Documentation,</a:t>
            </a:r>
            <a:r>
              <a:rPr sz="3500" spc="-10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MongoDB</a:t>
            </a:r>
            <a:r>
              <a:rPr sz="3500" spc="-105" dirty="0">
                <a:latin typeface="Times New Roman"/>
                <a:cs typeface="Times New Roman"/>
              </a:rPr>
              <a:t> </a:t>
            </a:r>
            <a:r>
              <a:rPr sz="3500" spc="-20" dirty="0">
                <a:latin typeface="Times New Roman"/>
                <a:cs typeface="Times New Roman"/>
              </a:rPr>
              <a:t>Inc.</a:t>
            </a: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3500">
              <a:latin typeface="Times New Roman"/>
              <a:cs typeface="Times New Roman"/>
            </a:endParaRPr>
          </a:p>
          <a:p>
            <a:pPr marL="1234440">
              <a:lnSpc>
                <a:spcPct val="100000"/>
              </a:lnSpc>
            </a:pPr>
            <a:r>
              <a:rPr sz="3500" dirty="0">
                <a:latin typeface="Times New Roman"/>
                <a:cs typeface="Times New Roman"/>
              </a:rPr>
              <a:t>Available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at: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  <a:hlinkClick r:id="rId5"/>
              </a:rPr>
              <a:t>https://www.mongodb.com/docs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816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816" rIns="0" bIns="0" rtlCol="0">
            <a:spAutoFit/>
          </a:bodyPr>
          <a:lstStyle/>
          <a:p>
            <a:pPr marL="314960">
              <a:lnSpc>
                <a:spcPts val="2065"/>
              </a:lnSpc>
            </a:pPr>
            <a:r>
              <a:rPr spc="-10" dirty="0"/>
              <a:t>9/6/2025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PRESENTATION OVERVIEW</vt:lpstr>
      <vt:lpstr>PROJECT INTRODUCTION</vt:lpstr>
      <vt:lpstr>OBJECTIVE</vt:lpstr>
      <vt:lpstr>PROBLEM STATEMENT</vt:lpstr>
      <vt:lpstr>Data structures USED</vt:lpstr>
      <vt:lpstr>Architecture Diagram</vt:lpstr>
      <vt:lpstr>MODULES USED</vt:lpstr>
      <vt:lpstr>MODULE 1 – USER AUTHENTICATION MODULE</vt:lpstr>
      <vt:lpstr>MODULE 2 – USER MANAGEMENT MODULE</vt:lpstr>
      <vt:lpstr>PROGRAM</vt:lpstr>
      <vt:lpstr>PROGRAM</vt:lpstr>
      <vt:lpstr>PROGRAM</vt:lpstr>
      <vt:lpstr>OUTPUT EXPLANATION</vt:lpstr>
      <vt:lpstr>ADVANTAGE</vt:lpstr>
      <vt:lpstr>CONCLUSION</vt:lpstr>
      <vt:lpstr>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DOC-20260412-WA0006..pptx</dc:title>
  <dc:creator>Kaniksha1412</dc:creator>
  <cp:keywords>DAHLe1oAJrc,BAGx2J0gpTs,0</cp:keywords>
  <cp:lastModifiedBy>Kaniksha Mohanmurali</cp:lastModifiedBy>
  <cp:revision>2</cp:revision>
  <dcterms:created xsi:type="dcterms:W3CDTF">2026-06-03T04:13:47Z</dcterms:created>
  <dcterms:modified xsi:type="dcterms:W3CDTF">2026-06-03T16:03:22Z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2026-06-03T00:00:00Z</vt:filetime>
  </property>
  <property fmtid="{D5CDD505-2E9C-101B-9397-08002B2CF9AE}" pid="3" name="Creator">
    <vt:lpwstr>Canva</vt:lpwstr>
  </property>
  <property fmtid="{D5CDD505-2E9C-101B-9397-08002B2CF9AE}" pid="4" name="LastSaved">
    <vt:filetime>2026-06-03T00:00:00Z</vt:filetime>
  </property>
  <property fmtid="{D5CDD505-2E9C-101B-9397-08002B2CF9AE}" pid="5" name="Producer">
    <vt:lpwstr>Canva</vt:lpwstr>
  </property>
</Properties>
</file>